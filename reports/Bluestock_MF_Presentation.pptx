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40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Garet" panose="020B0604020202020204" charset="0"/>
      <p:regular r:id="rId18"/>
    </p:embeddedFont>
    <p:embeddedFont>
      <p:font typeface="Garet Bold" panose="020B0604020202020204" charset="0"/>
      <p:regular r:id="rId19"/>
    </p:embeddedFont>
    <p:embeddedFont>
      <p:font typeface="Montserrat" panose="00000500000000000000" pitchFamily="2" charset="0"/>
      <p:regular r:id="rId20"/>
    </p:embeddedFont>
    <p:embeddedFont>
      <p:font typeface="Montserrat Bold" panose="00000800000000000000" charset="0"/>
      <p:regular r:id="rId21"/>
    </p:embeddedFont>
    <p:embeddedFont>
      <p:font typeface="Raleway" pitchFamily="2" charset="0"/>
      <p:regular r:id="rId22"/>
    </p:embeddedFont>
    <p:embeddedFont>
      <p:font typeface="Raleway Heavy" panose="020B0604020202020204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49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8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866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7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59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85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189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3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6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309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24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9569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70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904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9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4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  <p:sldLayoutId id="2147484078" r:id="rId12"/>
    <p:sldLayoutId id="2147484079" r:id="rId13"/>
    <p:sldLayoutId id="2147484080" r:id="rId14"/>
    <p:sldLayoutId id="2147484081" r:id="rId15"/>
    <p:sldLayoutId id="2147484082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267976" y="6737594"/>
            <a:ext cx="5675166" cy="33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spc="15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Bluestock Fintech</a:t>
            </a:r>
          </a:p>
        </p:txBody>
      </p:sp>
      <p:sp>
        <p:nvSpPr>
          <p:cNvPr id="15" name="TextBox 15"/>
          <p:cNvSpPr txBox="1"/>
          <p:nvPr/>
        </p:nvSpPr>
        <p:spPr>
          <a:xfrm rot="-17737">
            <a:off x="1320952" y="8247378"/>
            <a:ext cx="3480197" cy="55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3"/>
              </a:lnSpc>
            </a:pPr>
            <a:r>
              <a:rPr lang="en-US" sz="1545" spc="97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Prepared By:</a:t>
            </a:r>
          </a:p>
          <a:p>
            <a:pPr algn="l">
              <a:lnSpc>
                <a:spcPts val="2163"/>
              </a:lnSpc>
              <a:spcBef>
                <a:spcPct val="0"/>
              </a:spcBef>
            </a:pPr>
            <a:r>
              <a:rPr lang="en-US" sz="1545" spc="97" dirty="0" err="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Ungarala</a:t>
            </a:r>
            <a:r>
              <a:rPr lang="en-US" sz="1545" spc="97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Ramya</a:t>
            </a:r>
          </a:p>
        </p:txBody>
      </p:sp>
      <p:sp>
        <p:nvSpPr>
          <p:cNvPr id="16" name="TextBox 16"/>
          <p:cNvSpPr txBox="1"/>
          <p:nvPr/>
        </p:nvSpPr>
        <p:spPr>
          <a:xfrm rot="-17737">
            <a:off x="14201031" y="1415891"/>
            <a:ext cx="2622496" cy="2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9"/>
              </a:lnSpc>
              <a:spcBef>
                <a:spcPct val="0"/>
              </a:spcBef>
            </a:pPr>
            <a:r>
              <a:rPr lang="en-US" sz="1457" spc="9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June 2026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85948" y="1803637"/>
            <a:ext cx="13663973" cy="4725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MUTUAL FUND ANALYTICS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73263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5400000">
              <a:off x="18828976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564911" y="3340148"/>
            <a:ext cx="12168316" cy="1325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90"/>
              </a:lnSpc>
            </a:pPr>
            <a:r>
              <a:rPr lang="en-US" sz="9026" b="1" spc="2906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CONTENT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64911" y="2247968"/>
            <a:ext cx="8011222" cy="104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036"/>
              </a:lnSpc>
            </a:pPr>
            <a:r>
              <a:rPr lang="en-US" sz="7049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Table of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81365" y="4988955"/>
            <a:ext cx="5579275" cy="308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Problem Statement &amp; Objectives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Data Sources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Project Architecture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EDA Highlights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88669" y="4999069"/>
            <a:ext cx="1315493" cy="304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01.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02.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03.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04.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60640" y="5030281"/>
            <a:ext cx="1315493" cy="304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05.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06.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07.</a:t>
            </a:r>
          </a:p>
          <a:p>
            <a:pPr algn="r">
              <a:lnSpc>
                <a:spcPts val="6315"/>
              </a:lnSpc>
            </a:pPr>
            <a:r>
              <a:rPr lang="en-US" sz="2526" b="1" spc="376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08.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919033" y="5004561"/>
            <a:ext cx="6340267" cy="305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Fund Performance Analytics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Advanced Analytics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Dashboard</a:t>
            </a:r>
          </a:p>
          <a:p>
            <a:pPr algn="l">
              <a:lnSpc>
                <a:spcPts val="6306"/>
              </a:lnSpc>
            </a:pPr>
            <a:r>
              <a:rPr lang="en-US" sz="2522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Key Findings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746234" y="1848489"/>
            <a:ext cx="13927865" cy="1915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sz="6570" b="1" spc="2115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PROBLEM STATEMENT &amp; 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39147" y="5038725"/>
            <a:ext cx="11185865" cy="256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Problem Statement</a:t>
            </a:r>
          </a:p>
          <a:p>
            <a:pPr algn="ctr">
              <a:lnSpc>
                <a:spcPts val="4156"/>
              </a:lnSpc>
            </a:pPr>
            <a:r>
              <a:rPr lang="en-US" sz="2534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The mutual fund industry generates large volumes of financial and investor data. Analyzing this data manually is challenging and may lead to inefficient investment decisions.</a:t>
            </a:r>
          </a:p>
          <a:p>
            <a:pPr algn="ctr">
              <a:lnSpc>
                <a:spcPts val="4156"/>
              </a:lnSpc>
            </a:pPr>
            <a:endParaRPr lang="en-US" sz="2534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04" y="3587470"/>
            <a:ext cx="6418865" cy="62984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253377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53377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2397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7841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24127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4127" h="2256248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361528" lvl="1" indent="-180764" algn="l">
                  <a:lnSpc>
                    <a:spcPts val="2344"/>
                  </a:lnSpc>
                  <a:buAutoNum type="arabicPeriod"/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5481568" y="2278683"/>
            <a:ext cx="10917247" cy="101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sz="6920" b="1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OBJECTIVES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55353" y="3771564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Clean and validate mutual fund datasets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5353" y="4412301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Analyze industry and investor trends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55353" y="5064144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Evaluate fund performance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55353" y="5683940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Calculate risk metrics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55353" y="6307208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Build recommendation system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55353" y="6930476"/>
            <a:ext cx="8769677" cy="385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5536" lvl="1" indent="-227768" algn="l">
              <a:lnSpc>
                <a:spcPts val="3249"/>
              </a:lnSpc>
              <a:buFont typeface="Arial"/>
              <a:buChar char="•"/>
            </a:pPr>
            <a:r>
              <a:rPr lang="en-US" sz="2109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Develop interactive dashboard</a:t>
            </a:r>
          </a:p>
        </p:txBody>
      </p:sp>
      <p:sp>
        <p:nvSpPr>
          <p:cNvPr id="28" name="Freeform 28"/>
          <p:cNvSpPr/>
          <p:nvPr/>
        </p:nvSpPr>
        <p:spPr>
          <a:xfrm>
            <a:off x="12403718" y="4939751"/>
            <a:ext cx="3995097" cy="4114800"/>
          </a:xfrm>
          <a:custGeom>
            <a:avLst/>
            <a:gdLst/>
            <a:ahLst/>
            <a:cxnLst/>
            <a:rect l="l" t="t" r="r" b="b"/>
            <a:pathLst>
              <a:path w="3995097" h="4114800">
                <a:moveTo>
                  <a:pt x="0" y="0"/>
                </a:moveTo>
                <a:lnTo>
                  <a:pt x="3995097" y="0"/>
                </a:lnTo>
                <a:lnTo>
                  <a:pt x="399509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9" name="Freeform 9"/>
            <p:cNvSpPr/>
            <p:nvPr/>
          </p:nvSpPr>
          <p:spPr>
            <a:xfrm rot="5400000">
              <a:off x="18828976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aphicFrame>
        <p:nvGraphicFramePr>
          <p:cNvPr id="10" name="Object 10"/>
          <p:cNvGraphicFramePr/>
          <p:nvPr/>
        </p:nvGraphicFramePr>
        <p:xfrm>
          <a:off x="4077528" y="2828925"/>
          <a:ext cx="3771900" cy="691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143500" imgH="8293100" progId="Excel.Sheet.12">
                  <p:embed/>
                </p:oleObj>
              </mc:Choice>
              <mc:Fallback>
                <p:oleObj name="Worksheet" r:id="rId3" imgW="5143500" imgH="8293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77528" y="2828925"/>
                        <a:ext cx="3771900" cy="691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3755673" y="1346403"/>
            <a:ext cx="10776654" cy="101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9"/>
              </a:lnSpc>
            </a:pPr>
            <a:r>
              <a:rPr lang="en-US" sz="6920" b="1" spc="222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DATA SOURCES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0"/>
              <a:ext cx="4114800" cy="12827209"/>
              <a:chOff x="0" y="0"/>
              <a:chExt cx="812800" cy="253377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253377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53377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533770"/>
                    </a:lnTo>
                    <a:lnTo>
                      <a:pt x="0" y="2533770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812800" cy="25623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60545" y="317890"/>
              <a:ext cx="4114800" cy="12139068"/>
              <a:chOff x="0" y="0"/>
              <a:chExt cx="812800" cy="2397841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2397841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2397841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2397841"/>
                    </a:lnTo>
                    <a:lnTo>
                      <a:pt x="0" y="2397841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812800" cy="24264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07108" y="689043"/>
              <a:ext cx="4172145" cy="11422256"/>
              <a:chOff x="0" y="0"/>
              <a:chExt cx="824127" cy="225624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24127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4127" h="2256248">
                    <a:moveTo>
                      <a:pt x="0" y="0"/>
                    </a:moveTo>
                    <a:lnTo>
                      <a:pt x="824127" y="0"/>
                    </a:lnTo>
                    <a:lnTo>
                      <a:pt x="824127" y="2256248"/>
                    </a:lnTo>
                    <a:lnTo>
                      <a:pt x="0" y="2256248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824127" cy="22848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2027963" y="1057275"/>
            <a:ext cx="11699473" cy="1983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82"/>
              </a:lnSpc>
            </a:pPr>
            <a:r>
              <a:rPr lang="en-US" sz="6827" b="1" spc="2198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PROJECT ARCHITECTURE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36767" y="3283058"/>
            <a:ext cx="4162574" cy="583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Raw CSV Data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Cleaning &amp; Validation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SQLite Database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EDA &amp; Analysis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 Metrics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Risk Analytics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Power BI Dashboard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     ↓</a:t>
            </a:r>
          </a:p>
          <a:p>
            <a:pPr algn="ctr">
              <a:lnSpc>
                <a:spcPts val="3092"/>
              </a:lnSpc>
              <a:spcBef>
                <a:spcPct val="0"/>
              </a:spcBef>
            </a:pPr>
            <a:r>
              <a:rPr lang="en-US" sz="220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Insights &amp; Recommendations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9705" y="9925128"/>
            <a:ext cx="17451709" cy="281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4"/>
              </a:lnSpc>
              <a:spcBef>
                <a:spcPct val="0"/>
              </a:spcBef>
            </a:pPr>
            <a:r>
              <a:rPr lang="en-US" sz="16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Your paragraph text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641115" y="3003146"/>
            <a:ext cx="424494" cy="4223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</a:p>
          <a:p>
            <a:pPr algn="ctr">
              <a:lnSpc>
                <a:spcPts val="4210"/>
              </a:lnSpc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ctr">
              <a:lnSpc>
                <a:spcPts val="4210"/>
              </a:lnSpc>
              <a:spcBef>
                <a:spcPct val="0"/>
              </a:spcBef>
            </a:pPr>
            <a:r>
              <a:rPr lang="en-US" sz="300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23082"/>
            <a:ext cx="17451709" cy="9630621"/>
            <a:chOff x="0" y="0"/>
            <a:chExt cx="23268945" cy="1284082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1362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5400000">
              <a:off x="18828976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486278" y="1280905"/>
            <a:ext cx="12866314" cy="1582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93"/>
              </a:lnSpc>
            </a:pPr>
            <a:r>
              <a:rPr lang="en-US" sz="5432" b="1" spc="17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EDA HIGHLIGHTS – INDUSTRY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1850" y="4140607"/>
            <a:ext cx="14927419" cy="4373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95"/>
              </a:lnSpc>
            </a:pPr>
            <a:r>
              <a:rPr lang="en-US" sz="2353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Performed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NAV Trend Analysis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AUM Growth Analysis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Inflow Analysis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Category Inflow Analysis</a:t>
            </a:r>
          </a:p>
          <a:p>
            <a:pPr algn="l">
              <a:lnSpc>
                <a:spcPts val="3295"/>
              </a:lnSpc>
              <a:spcBef>
                <a:spcPct val="0"/>
              </a:spcBef>
            </a:pPr>
            <a:r>
              <a:rPr lang="en-US" sz="2353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Industry AUM showed continuous growth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SIP inflows increased significantly</a:t>
            </a:r>
          </a:p>
          <a:p>
            <a:pPr marL="430997" lvl="1" indent="-215499" algn="l">
              <a:lnSpc>
                <a:spcPts val="2794"/>
              </a:lnSpc>
              <a:buFont typeface="Arial"/>
              <a:buChar char="•"/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SBI Mutual Fund maintained highest AUM</a:t>
            </a:r>
          </a:p>
          <a:p>
            <a:pPr algn="l">
              <a:lnSpc>
                <a:spcPts val="3128"/>
              </a:lnSpc>
              <a:spcBef>
                <a:spcPct val="0"/>
              </a:spcBef>
            </a:pPr>
            <a:r>
              <a:rPr lang="en-US" sz="2234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Insert:</a:t>
            </a:r>
          </a:p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AUM Chart</a:t>
            </a:r>
          </a:p>
          <a:p>
            <a:pPr algn="l">
              <a:lnSpc>
                <a:spcPts val="2794"/>
              </a:lnSpc>
              <a:spcBef>
                <a:spcPct val="0"/>
              </a:spcBef>
            </a:pPr>
            <a:r>
              <a:rPr lang="en-US" sz="1996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Trend Chart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062818" y="1197595"/>
            <a:ext cx="12112108" cy="1503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5"/>
              </a:lnSpc>
            </a:pPr>
            <a:r>
              <a:rPr lang="en-US" sz="5101" b="1" spc="1642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EDA HIGHLIGHTS – INVESTOR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89889" y="3991951"/>
            <a:ext cx="15308222" cy="4226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sz="2563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Analysis Performed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Age Group Distribution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Geographic Distribution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Folio Growth Analysis</a:t>
            </a:r>
          </a:p>
          <a:p>
            <a:pPr algn="l">
              <a:lnSpc>
                <a:spcPts val="3589"/>
              </a:lnSpc>
              <a:spcBef>
                <a:spcPct val="0"/>
              </a:spcBef>
            </a:pPr>
            <a:r>
              <a:rPr lang="en-US" sz="2563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26–35 age group was the largest investor segment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Strong participation across multiple states</a:t>
            </a:r>
          </a:p>
          <a:p>
            <a:pPr marL="446787" lvl="1" indent="-223394" algn="l">
              <a:lnSpc>
                <a:spcPts val="2897"/>
              </a:lnSpc>
              <a:buFont typeface="Arial"/>
              <a:buChar char="•"/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 Investor folios increased steadily</a:t>
            </a:r>
          </a:p>
          <a:p>
            <a:pPr algn="l">
              <a:lnSpc>
                <a:spcPts val="3416"/>
              </a:lnSpc>
              <a:spcBef>
                <a:spcPct val="0"/>
              </a:spcBef>
            </a:pPr>
            <a:r>
              <a:rPr lang="en-US" sz="2440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Insert: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Age Group Chart</a:t>
            </a:r>
          </a:p>
          <a:p>
            <a:pPr algn="l">
              <a:lnSpc>
                <a:spcPts val="2897"/>
              </a:lnSpc>
              <a:spcBef>
                <a:spcPct val="0"/>
              </a:spcBef>
            </a:pPr>
            <a:r>
              <a:rPr lang="en-US" sz="2069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State-wise Chart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 rot="-5400000">
              <a:off x="10788565" y="279188"/>
              <a:ext cx="1691816" cy="23268945"/>
              <a:chOff x="0" y="0"/>
              <a:chExt cx="334186" cy="459633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334186" cy="4596335"/>
              </a:xfrm>
              <a:custGeom>
                <a:avLst/>
                <a:gdLst/>
                <a:ahLst/>
                <a:cxnLst/>
                <a:rect l="l" t="t" r="r" b="b"/>
                <a:pathLst>
                  <a:path w="334186" h="4596335">
                    <a:moveTo>
                      <a:pt x="0" y="0"/>
                    </a:moveTo>
                    <a:lnTo>
                      <a:pt x="334186" y="0"/>
                    </a:lnTo>
                    <a:lnTo>
                      <a:pt x="334186" y="4596335"/>
                    </a:lnTo>
                    <a:lnTo>
                      <a:pt x="0" y="4596335"/>
                    </a:lnTo>
                    <a:close/>
                  </a:path>
                </a:pathLst>
              </a:custGeom>
              <a:solidFill>
                <a:srgbClr val="508484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334186" cy="462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5400000">
              <a:off x="10771334" y="390167"/>
              <a:ext cx="1699601" cy="22662723"/>
              <a:chOff x="0" y="0"/>
              <a:chExt cx="335724" cy="4476587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335724" cy="4476587"/>
              </a:xfrm>
              <a:custGeom>
                <a:avLst/>
                <a:gdLst/>
                <a:ahLst/>
                <a:cxnLst/>
                <a:rect l="l" t="t" r="r" b="b"/>
                <a:pathLst>
                  <a:path w="335724" h="4476587">
                    <a:moveTo>
                      <a:pt x="0" y="0"/>
                    </a:moveTo>
                    <a:lnTo>
                      <a:pt x="335724" y="0"/>
                    </a:lnTo>
                    <a:lnTo>
                      <a:pt x="335724" y="4476587"/>
                    </a:lnTo>
                    <a:lnTo>
                      <a:pt x="0" y="4476587"/>
                    </a:lnTo>
                    <a:close/>
                  </a:path>
                </a:pathLst>
              </a:custGeom>
              <a:solidFill>
                <a:srgbClr val="7CBBB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28575"/>
                <a:ext cx="335724" cy="45051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 rot="-5400000">
              <a:off x="10807053" y="431431"/>
              <a:ext cx="1715394" cy="21922519"/>
              <a:chOff x="0" y="0"/>
              <a:chExt cx="338843" cy="433037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38843" cy="4330374"/>
              </a:xfrm>
              <a:custGeom>
                <a:avLst/>
                <a:gdLst/>
                <a:ahLst/>
                <a:cxnLst/>
                <a:rect l="l" t="t" r="r" b="b"/>
                <a:pathLst>
                  <a:path w="338843" h="4330374">
                    <a:moveTo>
                      <a:pt x="0" y="0"/>
                    </a:moveTo>
                    <a:lnTo>
                      <a:pt x="338843" y="0"/>
                    </a:lnTo>
                    <a:lnTo>
                      <a:pt x="338843" y="4330374"/>
                    </a:lnTo>
                    <a:lnTo>
                      <a:pt x="0" y="4330374"/>
                    </a:lnTo>
                    <a:close/>
                  </a:path>
                </a:pathLst>
              </a:custGeom>
              <a:solidFill>
                <a:srgbClr val="B5EFE3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338843" cy="43589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2239616" y="1308566"/>
            <a:ext cx="14190403" cy="148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sz="5122" b="1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FUND PERFORMANCE ANALYTICS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07247" y="2916483"/>
            <a:ext cx="13899658" cy="6213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9"/>
              </a:lnSpc>
            </a:pPr>
            <a:r>
              <a:rPr lang="en-US" sz="2274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Metrics Calculated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Daily Returns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CAGR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Sharpe Ratio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Sortino Ratio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Alpha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Beta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Maximum Drawdown</a:t>
            </a:r>
          </a:p>
          <a:p>
            <a:pPr algn="l">
              <a:lnSpc>
                <a:spcPts val="3729"/>
              </a:lnSpc>
            </a:pPr>
            <a:r>
              <a:rPr lang="en-US" sz="2274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Key Results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Moderate-risk funds achieved highest Sharpe Ratios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Several funds outperformed benchmark indices</a:t>
            </a:r>
          </a:p>
          <a:p>
            <a:pPr algn="l">
              <a:lnSpc>
                <a:spcPts val="3558"/>
              </a:lnSpc>
            </a:pPr>
            <a:r>
              <a:rPr lang="en-US" sz="2169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Insert: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Sharpe Ratio Table</a:t>
            </a:r>
          </a:p>
          <a:p>
            <a:pPr marL="423240" lvl="1" indent="-211620" algn="l">
              <a:lnSpc>
                <a:spcPts val="3214"/>
              </a:lnSpc>
              <a:buFont typeface="Arial"/>
              <a:buChar char="•"/>
            </a:pPr>
            <a:r>
              <a:rPr lang="en-US" sz="196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Fund Scorecard</a:t>
            </a:r>
          </a:p>
          <a:p>
            <a:pPr algn="l">
              <a:lnSpc>
                <a:spcPts val="3214"/>
              </a:lnSpc>
            </a:pPr>
            <a:endParaRPr lang="en-US" sz="1960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23082"/>
            <a:ext cx="17451709" cy="9643754"/>
            <a:chOff x="0" y="0"/>
            <a:chExt cx="23268945" cy="1285833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362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30679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70297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400858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1362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69"/>
                  </a:lnTo>
                  <a:lnTo>
                    <a:pt x="0" y="4439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5400000">
              <a:off x="18828976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-5400000">
              <a:off x="0" y="8418368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852643" y="3312049"/>
            <a:ext cx="14505832" cy="5415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2269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Implemented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Value at Risk (VaR)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Conditional VaR (CVaR)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Rolling Sharpe Ratio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Cohort Analysis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SIP Continuity Analysis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HHI Sector Risk Analysis</a:t>
            </a:r>
          </a:p>
          <a:p>
            <a:pPr algn="l">
              <a:lnSpc>
                <a:spcPts val="3154"/>
              </a:lnSpc>
            </a:pPr>
            <a:r>
              <a:rPr lang="en-US" sz="2269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Key Insights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Identified high-risk funds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Evaluated sector concentration risk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Built fund recommendation model</a:t>
            </a:r>
          </a:p>
          <a:p>
            <a:pPr algn="l">
              <a:lnSpc>
                <a:spcPts val="3154"/>
              </a:lnSpc>
            </a:pPr>
            <a:r>
              <a:rPr lang="en-US" sz="2269" b="1">
                <a:solidFill>
                  <a:srgbClr val="27403B"/>
                </a:solidFill>
                <a:latin typeface="Garet Bold"/>
                <a:ea typeface="Garet Bold"/>
                <a:cs typeface="Garet Bold"/>
                <a:sym typeface="Garet Bold"/>
              </a:rPr>
              <a:t>Insert: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Rolling Sharpe Chart</a:t>
            </a:r>
          </a:p>
          <a:p>
            <a:pPr marL="438948" lvl="1" indent="-219474" algn="l">
              <a:lnSpc>
                <a:spcPts val="2826"/>
              </a:lnSpc>
              <a:buFont typeface="Arial"/>
              <a:buChar char="•"/>
            </a:pPr>
            <a:r>
              <a:rPr lang="en-US" sz="2033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HHI Chart</a:t>
            </a:r>
          </a:p>
          <a:p>
            <a:pPr algn="l">
              <a:lnSpc>
                <a:spcPts val="2826"/>
              </a:lnSpc>
            </a:pPr>
            <a:endParaRPr lang="en-US" sz="2033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392016" y="1460966"/>
            <a:ext cx="14190403" cy="148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sz="5122" b="1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ADVANCED ANALYTICS &amp; RISK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2544416" y="1613366"/>
            <a:ext cx="14190403" cy="148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9"/>
              </a:lnSpc>
            </a:pPr>
            <a:r>
              <a:rPr lang="en-US" sz="5122" b="1" spc="1649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DASHBOARD – INDUSTRY &amp; FUND PERFORMANCE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81457" y="4451472"/>
            <a:ext cx="4723507" cy="2416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  <a:spcBef>
                <a:spcPct val="0"/>
              </a:spcBef>
            </a:pPr>
            <a:r>
              <a:rPr lang="en-US" sz="2745" b="1">
                <a:solidFill>
                  <a:srgbClr val="27403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1: Industry Overview</a:t>
            </a:r>
          </a:p>
          <a:p>
            <a:pPr marL="592723" lvl="1" indent="-296362" algn="l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Total AUM</a:t>
            </a:r>
          </a:p>
          <a:p>
            <a:pPr marL="592723" lvl="1" indent="-296362" algn="l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SIP Inflows</a:t>
            </a:r>
          </a:p>
          <a:p>
            <a:pPr marL="592723" lvl="1" indent="-296362" algn="l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Folios</a:t>
            </a:r>
          </a:p>
          <a:p>
            <a:pPr marL="592723" lvl="1" indent="-296362" algn="l">
              <a:lnSpc>
                <a:spcPts val="3843"/>
              </a:lnSpc>
              <a:buFont typeface="Arial"/>
              <a:buChar char="•"/>
            </a:pPr>
            <a:r>
              <a:rPr lang="en-US" sz="2745">
                <a:solidFill>
                  <a:srgbClr val="27403B"/>
                </a:solidFill>
                <a:latin typeface="Montserrat"/>
                <a:ea typeface="Montserrat"/>
                <a:cs typeface="Montserrat"/>
                <a:sym typeface="Montserrat"/>
              </a:rPr>
              <a:t>Industry Trends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37284" y="3773527"/>
            <a:ext cx="8096763" cy="4777132"/>
          </a:xfrm>
          <a:custGeom>
            <a:avLst/>
            <a:gdLst/>
            <a:ahLst/>
            <a:cxnLst/>
            <a:rect l="l" t="t" r="r" b="b"/>
            <a:pathLst>
              <a:path w="8096763" h="4777132">
                <a:moveTo>
                  <a:pt x="0" y="0"/>
                </a:moveTo>
                <a:lnTo>
                  <a:pt x="8096762" y="0"/>
                </a:lnTo>
                <a:lnTo>
                  <a:pt x="8096762" y="4777132"/>
                </a:lnTo>
                <a:lnTo>
                  <a:pt x="0" y="47771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784" t="-18705" b="-878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7524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028700" y="3501253"/>
            <a:ext cx="8241562" cy="4955377"/>
          </a:xfrm>
          <a:custGeom>
            <a:avLst/>
            <a:gdLst/>
            <a:ahLst/>
            <a:cxnLst/>
            <a:rect l="l" t="t" r="r" b="b"/>
            <a:pathLst>
              <a:path w="8241562" h="4955377">
                <a:moveTo>
                  <a:pt x="0" y="0"/>
                </a:moveTo>
                <a:lnTo>
                  <a:pt x="8241562" y="0"/>
                </a:lnTo>
                <a:lnTo>
                  <a:pt x="8241562" y="4955377"/>
                </a:lnTo>
                <a:lnTo>
                  <a:pt x="0" y="4955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3784" t="-17231" b="-7866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18087" y="4567996"/>
            <a:ext cx="4861620" cy="1790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6"/>
              </a:lnSpc>
              <a:spcBef>
                <a:spcPct val="0"/>
              </a:spcBef>
            </a:pPr>
            <a:r>
              <a:rPr lang="en-US" sz="275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2: Fund Performance</a:t>
            </a:r>
          </a:p>
          <a:p>
            <a:pPr marL="535923" lvl="1" indent="-267962" algn="l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Return vs Risk Analysis</a:t>
            </a:r>
          </a:p>
          <a:p>
            <a:pPr marL="535923" lvl="1" indent="-267962" algn="l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Fund Scorecard</a:t>
            </a:r>
          </a:p>
          <a:p>
            <a:pPr marL="535923" lvl="1" indent="-267962" algn="l">
              <a:lnSpc>
                <a:spcPts val="3475"/>
              </a:lnSpc>
              <a:buFont typeface="Arial"/>
              <a:buChar char="•"/>
            </a:pPr>
            <a:r>
              <a:rPr lang="en-US" sz="24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Performance Comparison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583014" y="4492219"/>
            <a:ext cx="4780508" cy="189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8"/>
              </a:lnSpc>
              <a:spcBef>
                <a:spcPct val="0"/>
              </a:spcBef>
            </a:pPr>
            <a:r>
              <a:rPr lang="en-US" sz="2727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3: Investor Analytics</a:t>
            </a:r>
          </a:p>
          <a:p>
            <a:pPr marL="588887" lvl="1" indent="-294444" algn="l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Transaction Analysis</a:t>
            </a:r>
          </a:p>
          <a:p>
            <a:pPr marL="588887" lvl="1" indent="-294444" algn="l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</a:p>
          <a:p>
            <a:pPr marL="588887" lvl="1" indent="-294444" algn="l">
              <a:lnSpc>
                <a:spcPts val="3818"/>
              </a:lnSpc>
              <a:buFont typeface="Arial"/>
              <a:buChar char="•"/>
            </a:pPr>
            <a:r>
              <a:rPr lang="en-US" sz="272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Geographic Distribution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1380162" y="3415618"/>
            <a:ext cx="7621821" cy="4441708"/>
          </a:xfrm>
          <a:custGeom>
            <a:avLst/>
            <a:gdLst/>
            <a:ahLst/>
            <a:cxnLst/>
            <a:rect l="l" t="t" r="r" b="b"/>
            <a:pathLst>
              <a:path w="7621821" h="4441708">
                <a:moveTo>
                  <a:pt x="0" y="0"/>
                </a:moveTo>
                <a:lnTo>
                  <a:pt x="7621821" y="0"/>
                </a:lnTo>
                <a:lnTo>
                  <a:pt x="7621821" y="4441708"/>
                </a:lnTo>
                <a:lnTo>
                  <a:pt x="0" y="4441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14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339903" y="3418887"/>
            <a:ext cx="7804097" cy="4636998"/>
          </a:xfrm>
          <a:custGeom>
            <a:avLst/>
            <a:gdLst/>
            <a:ahLst/>
            <a:cxnLst/>
            <a:rect l="l" t="t" r="r" b="b"/>
            <a:pathLst>
              <a:path w="7804097" h="4636998">
                <a:moveTo>
                  <a:pt x="0" y="0"/>
                </a:moveTo>
                <a:lnTo>
                  <a:pt x="7804097" y="0"/>
                </a:lnTo>
                <a:lnTo>
                  <a:pt x="7804097" y="4636998"/>
                </a:lnTo>
                <a:lnTo>
                  <a:pt x="0" y="463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502055" y="4243740"/>
            <a:ext cx="5197673" cy="1929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4"/>
              </a:lnSpc>
              <a:spcBef>
                <a:spcPct val="0"/>
              </a:spcBef>
            </a:pPr>
            <a:r>
              <a:rPr lang="en-US" sz="27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Page 4: SIP &amp; Market Trends</a:t>
            </a:r>
          </a:p>
          <a:p>
            <a:pPr marL="599012" lvl="1" indent="-299506" algn="l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SIP Growth</a:t>
            </a:r>
          </a:p>
          <a:p>
            <a:pPr marL="599012" lvl="1" indent="-299506" algn="l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Category Inflows</a:t>
            </a:r>
          </a:p>
          <a:p>
            <a:pPr marL="599012" lvl="1" indent="-299506" algn="l">
              <a:lnSpc>
                <a:spcPts val="3884"/>
              </a:lnSpc>
              <a:buFont typeface="Arial"/>
              <a:buChar char="•"/>
            </a:pPr>
            <a:r>
              <a:rPr lang="en-US" sz="277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Market Trends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3335194" y="1672591"/>
            <a:ext cx="13019115" cy="1155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9"/>
              </a:lnSpc>
            </a:pPr>
            <a:r>
              <a:rPr lang="en-US" sz="7868" b="1" spc="2533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KEY FINDINGS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0063" y="4258917"/>
            <a:ext cx="11386292" cy="2816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SIP participation increased steadily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Moderate-risk funds delivered strong risk-adjusted returns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ndustry AUM showed significant growth</a:t>
            </a:r>
          </a:p>
          <a:p>
            <a:pPr algn="l">
              <a:lnSpc>
                <a:spcPts val="4561"/>
              </a:lnSpc>
            </a:pPr>
            <a:r>
              <a:rPr lang="en-US" sz="278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# Some portfolios exhibited concentration risk</a:t>
            </a:r>
          </a:p>
          <a:p>
            <a:pPr algn="l">
              <a:lnSpc>
                <a:spcPts val="4561"/>
              </a:lnSpc>
            </a:pPr>
            <a:endParaRPr lang="en-US" sz="2781">
              <a:solidFill>
                <a:srgbClr val="27403B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9705" y="333297"/>
            <a:ext cx="17451709" cy="9620406"/>
            <a:chOff x="0" y="0"/>
            <a:chExt cx="23268945" cy="12827209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268945" cy="12827209"/>
              <a:chOff x="0" y="0"/>
              <a:chExt cx="6619526" cy="364907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619526" cy="3649071"/>
              </a:xfrm>
              <a:custGeom>
                <a:avLst/>
                <a:gdLst/>
                <a:ahLst/>
                <a:cxnLst/>
                <a:rect l="l" t="t" r="r" b="b"/>
                <a:pathLst>
                  <a:path w="6619526" h="3649071">
                    <a:moveTo>
                      <a:pt x="0" y="0"/>
                    </a:moveTo>
                    <a:lnTo>
                      <a:pt x="6619526" y="0"/>
                    </a:lnTo>
                    <a:lnTo>
                      <a:pt x="6619526" y="3649071"/>
                    </a:lnTo>
                    <a:lnTo>
                      <a:pt x="0" y="3649071"/>
                    </a:lnTo>
                    <a:close/>
                  </a:path>
                </a:pathLst>
              </a:custGeom>
              <a:ln w="66675" cap="sq">
                <a:solidFill>
                  <a:srgbClr val="508484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28575"/>
                <a:ext cx="6619526" cy="367764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93149" y="293179"/>
              <a:ext cx="22662658" cy="12194998"/>
              <a:chOff x="0" y="0"/>
              <a:chExt cx="6447050" cy="346922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447050" cy="3469221"/>
              </a:xfrm>
              <a:custGeom>
                <a:avLst/>
                <a:gdLst/>
                <a:ahLst/>
                <a:cxnLst/>
                <a:rect l="l" t="t" r="r" b="b"/>
                <a:pathLst>
                  <a:path w="6447050" h="3469221">
                    <a:moveTo>
                      <a:pt x="0" y="0"/>
                    </a:moveTo>
                    <a:lnTo>
                      <a:pt x="6447050" y="0"/>
                    </a:lnTo>
                    <a:lnTo>
                      <a:pt x="6447050" y="3469221"/>
                    </a:lnTo>
                    <a:lnTo>
                      <a:pt x="0" y="3469221"/>
                    </a:lnTo>
                    <a:close/>
                  </a:path>
                </a:pathLst>
              </a:custGeom>
              <a:ln w="66675" cap="sq">
                <a:solidFill>
                  <a:srgbClr val="7CBBBB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28575"/>
                <a:ext cx="6447050" cy="3497796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75815" y="689359"/>
              <a:ext cx="21959466" cy="11434829"/>
              <a:chOff x="0" y="0"/>
              <a:chExt cx="6247007" cy="325296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247007" cy="3252968"/>
              </a:xfrm>
              <a:custGeom>
                <a:avLst/>
                <a:gdLst/>
                <a:ahLst/>
                <a:cxnLst/>
                <a:rect l="l" t="t" r="r" b="b"/>
                <a:pathLst>
                  <a:path w="6247007" h="3252968">
                    <a:moveTo>
                      <a:pt x="0" y="0"/>
                    </a:moveTo>
                    <a:lnTo>
                      <a:pt x="6247007" y="0"/>
                    </a:lnTo>
                    <a:lnTo>
                      <a:pt x="6247007" y="3252968"/>
                    </a:lnTo>
                    <a:lnTo>
                      <a:pt x="0" y="3252968"/>
                    </a:lnTo>
                    <a:close/>
                  </a:path>
                </a:pathLst>
              </a:custGeom>
              <a:ln w="66675" cap="sq">
                <a:solidFill>
                  <a:srgbClr val="B5EFE3"/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28575"/>
                <a:ext cx="6247007" cy="3281544"/>
              </a:xfrm>
              <a:prstGeom prst="rect">
                <a:avLst/>
              </a:prstGeom>
            </p:spPr>
            <p:txBody>
              <a:bodyPr lIns="48876" tIns="48876" rIns="48876" bIns="48876" rtlCol="0" anchor="ctr"/>
              <a:lstStyle/>
              <a:p>
                <a:pPr algn="ctr">
                  <a:lnSpc>
                    <a:spcPts val="2344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 rot="-10800000">
              <a:off x="18828976" y="8387239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69" y="0"/>
                  </a:lnTo>
                  <a:lnTo>
                    <a:pt x="4439969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4439970" cy="4439970"/>
            </a:xfrm>
            <a:custGeom>
              <a:avLst/>
              <a:gdLst/>
              <a:ahLst/>
              <a:cxnLst/>
              <a:rect l="l" t="t" r="r" b="b"/>
              <a:pathLst>
                <a:path w="4439970" h="4439970">
                  <a:moveTo>
                    <a:pt x="0" y="0"/>
                  </a:moveTo>
                  <a:lnTo>
                    <a:pt x="4439970" y="0"/>
                  </a:lnTo>
                  <a:lnTo>
                    <a:pt x="4439970" y="4439970"/>
                  </a:lnTo>
                  <a:lnTo>
                    <a:pt x="0" y="4439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312014" y="4451565"/>
            <a:ext cx="13663973" cy="2232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18"/>
              </a:lnSpc>
            </a:pPr>
            <a:r>
              <a:rPr lang="en-US" sz="13601" b="1" spc="680">
                <a:solidFill>
                  <a:srgbClr val="27403B"/>
                </a:solidFill>
                <a:latin typeface="Raleway Heavy"/>
                <a:ea typeface="Raleway Heavy"/>
                <a:cs typeface="Raleway Heavy"/>
                <a:sym typeface="Raleway Heavy"/>
              </a:rPr>
              <a:t>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67976" y="6737594"/>
            <a:ext cx="5675166" cy="345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</a:pPr>
            <a:r>
              <a:rPr lang="en-US" sz="19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by, </a:t>
            </a:r>
            <a:r>
              <a:rPr lang="en-US" sz="1989" dirty="0" err="1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Ungarala</a:t>
            </a:r>
            <a:r>
              <a:rPr lang="en-US" sz="1989" dirty="0">
                <a:solidFill>
                  <a:srgbClr val="27403B"/>
                </a:solidFill>
                <a:latin typeface="Garet"/>
                <a:ea typeface="Garet"/>
                <a:cs typeface="Garet"/>
                <a:sym typeface="Garet"/>
              </a:rPr>
              <a:t> Ramya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12014" y="3199506"/>
            <a:ext cx="13663973" cy="1556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541" spc="477">
                <a:solidFill>
                  <a:srgbClr val="27403B"/>
                </a:solidFill>
                <a:latin typeface="Raleway"/>
                <a:ea typeface="Raleway"/>
                <a:cs typeface="Raleway"/>
                <a:sym typeface="Raleway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1337</TotalTime>
  <Words>422</Words>
  <Application>Microsoft Office PowerPoint</Application>
  <PresentationFormat>Custom</PresentationFormat>
  <Paragraphs>140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Montserrat Bold</vt:lpstr>
      <vt:lpstr>Garet</vt:lpstr>
      <vt:lpstr>Raleway Heavy</vt:lpstr>
      <vt:lpstr>Wingdings 3</vt:lpstr>
      <vt:lpstr>Arial</vt:lpstr>
      <vt:lpstr>Raleway</vt:lpstr>
      <vt:lpstr>Trebuchet MS</vt:lpstr>
      <vt:lpstr>Garet Bold</vt:lpstr>
      <vt:lpstr>Montserrat</vt:lpstr>
      <vt:lpstr>Facet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Bluestock_MF_Presentation</dc:title>
  <dc:creator>Lucky</dc:creator>
  <cp:lastModifiedBy>ramyaungarala75@outlook.com</cp:lastModifiedBy>
  <cp:revision>4</cp:revision>
  <dcterms:created xsi:type="dcterms:W3CDTF">2006-08-16T00:00:00Z</dcterms:created>
  <dcterms:modified xsi:type="dcterms:W3CDTF">2026-06-12T15:07:32Z</dcterms:modified>
  <dc:identifier>DAHMMrYt7wo</dc:identifier>
</cp:coreProperties>
</file>